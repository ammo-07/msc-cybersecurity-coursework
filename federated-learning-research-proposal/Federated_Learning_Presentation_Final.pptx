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Centralised</c:v>
                  </c:pt>
                  <c:pt idx="1">
                    <c:v>Federated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79792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27264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4736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274320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9792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27264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621792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969264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7264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0" y="1316736"/>
            <a:ext cx="91440" cy="9144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COM00195M  |  PRAD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86868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for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Disease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in Healthcare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50292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3-Minute Research Presentation  |  Academic Research Proposal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681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York  | 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0972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this matter?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01168"/>
            <a:ext cx="5806440" cy="1426464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926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Healthcare Data is Sensitive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640080"/>
            <a:ext cx="5486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health records contain personal patient information that cannot be freely shared between hospitals — GDPR and UK Data Protection Act 2018 strictly prohibit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773936"/>
            <a:ext cx="5806440" cy="1426464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8653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Machine Learning Needs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12848"/>
            <a:ext cx="5486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disease prediction models for cardiovascular disease and diabetes require large, diverse datasets from many institutions to learn meaningful patterns.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346704"/>
            <a:ext cx="5806440" cy="142646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438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 Critical Conflict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785616"/>
            <a:ext cx="5486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cannot function without pooling that data — creating an unavoidable conflict between building powerful diagnostic tools and protecting patient privacy.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IDEA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AI across hospitals — without sharing any patient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194560" cy="1463040"/>
          </a:xfrm>
          <a:prstGeom prst="rect">
            <a:avLst/>
          </a:prstGeom>
          <a:solidFill>
            <a:srgbClr val="E0F2F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070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2194560" cy="1463040"/>
          </a:xfrm>
          <a:prstGeom prst="rect">
            <a:avLst/>
          </a:prstGeom>
          <a:solidFill>
            <a:srgbClr val="E0F2F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944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2377440" cy="1463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847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87168" y="1920240"/>
            <a:ext cx="98755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664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87168" y="2286000"/>
            <a:ext cx="98755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487168" y="23225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improved model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87168" y="3246120"/>
            <a:ext cx="98755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2990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87168" y="3611880"/>
            <a:ext cx="98755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487168" y="36484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improved model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788920"/>
            <a:ext cx="21945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1440" y="2816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patient data ever leaves hospital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0" y="1828800"/>
            <a:ext cx="2468880" cy="14630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8470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0080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2606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disease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&amp; privacy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preserved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2560320"/>
            <a:ext cx="5486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39572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09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 (no patient data)     </a:t>
            </a:r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model returned     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data NEVER shared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methods. Same data. Same models. Compared fairly.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960120"/>
            <a:ext cx="365760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79392" y="2606040"/>
            <a:ext cx="585216" cy="58521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9392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3931920" cy="402336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960120"/>
            <a:ext cx="39319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 — Centralised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gathered in one location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0848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trained on combined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machine learning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for comparison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Privacy risk: patient data leaves institution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960120"/>
            <a:ext cx="3931920" cy="4023360"/>
          </a:xfrm>
          <a:prstGeom prst="rect">
            <a:avLst/>
          </a:prstGeom>
          <a:solidFill>
            <a:srgbClr val="E0F2FE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960120"/>
            <a:ext cx="3931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— Federated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5727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at each hospital — never shared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0848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locally at multiple sites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59689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model updates shared centrally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1089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by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6210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GDPR &amp; UK Data Protection Act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weeks  |  Each phase feeds directly into the next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153619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554480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9875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1554480" cy="274320"/>
          </a:xfrm>
          <a:prstGeom prst="rect">
            <a:avLst/>
          </a:prstGeom>
          <a:solidFill>
            <a:srgbClr val="EBF3FB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" y="2816352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Synthesise existing FL and disease-prediction research; select datasets and methods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47872" y="169164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53619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93392" y="960120"/>
            <a:ext cx="155448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2032" y="9875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93392" y="14813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93392" y="2487168"/>
            <a:ext cx="15544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816352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UCI Heart Disease &amp; Pima Diabetes datasets; partition across 5 simulated hospital nodes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66944" y="169164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53619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712464" y="960120"/>
            <a:ext cx="155448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61104" y="9875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1104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12464" y="14813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12464" y="2487168"/>
            <a:ext cx="1554480" cy="27432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39312" y="2816352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centralised and federated models in TensorFlow Federated under identical conditions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86016" y="169164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153619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31536" y="960120"/>
            <a:ext cx="155448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0176" y="9875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0176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31536" y="14813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31536" y="2487168"/>
            <a:ext cx="1554480" cy="27432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18–22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58384" y="2816352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 accuracy, F1-score, communication cost, and privacy risk (membership inference)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50608" y="960120"/>
            <a:ext cx="155448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99248" y="9875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50608" y="148132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Writing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50608" y="2487168"/>
            <a:ext cx="1554480" cy="274320"/>
          </a:xfrm>
          <a:prstGeom prst="rect">
            <a:avLst/>
          </a:prstGeom>
          <a:solidFill>
            <a:srgbClr val="FFF1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23–24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77456" y="2816352"/>
            <a:ext cx="170078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dissertation; prepare IEEE EMBC submission; publish open-source GitHub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accuracy — not opposites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754880" cy="1234440"/>
          </a:xfrm>
          <a:prstGeom prst="rect">
            <a:avLst/>
          </a:prstGeom>
          <a:solidFill>
            <a:srgbClr val="E0F2FE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607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Comparable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predicted to achieve accuracy within 5% of centralised models — validated on UCI Heart Disease and Pima Diabetes datasets.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4754880" cy="123444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4323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Enhanced Privacy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raw patient data is ever exposed. Privacy quantified through membership inference attack resistance and differential privacy bounds (ε, δ).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4754880" cy="123444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039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Higher Data Exchange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greater communication overhead per round — but updates contain zero patient information. Cost benchmarked per aggregation round.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57800" y="987552"/>
            <a:ext cx="36118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0424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Expected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3167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indication only — not actual results)</a:t>
            </a:r>
            <a:endParaRPr lang="en-US" sz="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349240" y="1536192"/>
          <a:ext cx="34290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5349240" y="418795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shown are illustrative projections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274320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67344" y="274320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14816" y="274320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621792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621792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7344" y="621792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14816" y="621792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969264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969264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969264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969264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316736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316736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7344" y="1316736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14816" y="1316736"/>
            <a:ext cx="91440" cy="91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7315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1828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Society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164592"/>
            <a:ext cx="59893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71800" y="182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170,000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212080" y="237744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deaths per year from cardiovascular disease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many preventable with earlier AI-assisted diagnosis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(British Heart Foundation, 2023)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0" y="1417320"/>
            <a:ext cx="283464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71800" y="152704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47872" y="15087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&amp; trustworthy AI healthcare systems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2606040"/>
            <a:ext cx="283464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71800" y="271576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47872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patient confidence and trust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3794760"/>
            <a:ext cx="283464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71800" y="390448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547872" y="3886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with GDPR and UK Data Protection Act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1417320"/>
            <a:ext cx="292608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35040" y="152704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01968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collaboration between NHS hospital trusts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2606040"/>
            <a:ext cx="292608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35040" y="271576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01968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clinical decision-making through AI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3794760"/>
            <a:ext cx="2926080" cy="1005840"/>
          </a:xfrm>
          <a:prstGeom prst="rect">
            <a:avLst/>
          </a:prstGeom>
          <a:solidFill>
            <a:srgbClr val="0A2E50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35040" y="3904488"/>
            <a:ext cx="5669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01968" y="3886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framework for global healthcare AI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743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09728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92024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74320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56616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4389120"/>
            <a:ext cx="73152" cy="73152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Prediction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coexist.</a:t>
            </a:r>
            <a:endParaRPr lang="en-US" sz="5200" dirty="0"/>
          </a:p>
        </p:txBody>
      </p:sp>
      <p:sp>
        <p:nvSpPr>
          <p:cNvPr id="42" name="Text 40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research will demonstrate that federated learning can enable accurate disease prediction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keeping patient data fully private — building safer AI for better healthcare.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for Privacy-Preserving Disease Prediction  |  COM00195M  |  University of York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Learning for Privacy-Preserving Disease Prediction</dc:title>
  <dc:subject>PptxGenJS Presentation</dc:subject>
  <dc:creator>COM00195M</dc:creator>
  <cp:lastModifiedBy>COM00195M</cp:lastModifiedBy>
  <cp:revision>1</cp:revision>
  <dcterms:created xsi:type="dcterms:W3CDTF">2026-05-22T01:50:26Z</dcterms:created>
  <dcterms:modified xsi:type="dcterms:W3CDTF">2026-05-22T01:50:26Z</dcterms:modified>
</cp:coreProperties>
</file>